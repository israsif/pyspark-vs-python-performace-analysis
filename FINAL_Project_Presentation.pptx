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2" r:id="rId8"/>
    <p:sldId id="261" r:id="rId9"/>
    <p:sldId id="264" r:id="rId10"/>
    <p:sldId id="280" r:id="rId11"/>
    <p:sldId id="272" r:id="rId12"/>
    <p:sldId id="273" r:id="rId13"/>
    <p:sldId id="283" r:id="rId14"/>
    <p:sldId id="282" r:id="rId15"/>
    <p:sldId id="267" r:id="rId16"/>
    <p:sldId id="276" r:id="rId17"/>
    <p:sldId id="279" r:id="rId18"/>
  </p:sldIdLst>
  <p:sldSz cx="9144000" cy="5143500" type="screen16x9"/>
  <p:notesSz cx="5143500" cy="9144000"/>
  <p:embeddedFontLst>
    <p:embeddedFont>
      <p:font typeface="Calibri" panose="020F0502020204030204"/>
      <p:regular r:id="rId22"/>
    </p:embeddedFont>
    <p:embeddedFont>
      <p:font typeface="Consolas" panose="020B0609020204030204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Google Shape;12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Google Shape;7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5" name="Google Shape;30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27f3b1b5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e27f3b1b54_0_7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27f3b1b5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e27f3b1b54_0_8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27f3b1b5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e27f3b1b54_0_1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27f3b1b54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e27f3b1b54_0_133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1" name="Google Shape;431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5" name="Google Shape;15;p1"/>
          <p:cNvCxnSpPr/>
          <p:nvPr/>
        </p:nvCxnSpPr>
        <p:spPr>
          <a:xfrm>
            <a:off x="56692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6053328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1"/>
          <p:cNvCxnSpPr/>
          <p:nvPr/>
        </p:nvCxnSpPr>
        <p:spPr>
          <a:xfrm>
            <a:off x="6437376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1"/>
          <p:cNvCxnSpPr/>
          <p:nvPr/>
        </p:nvCxnSpPr>
        <p:spPr>
          <a:xfrm>
            <a:off x="6821424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"/>
          <p:cNvCxnSpPr/>
          <p:nvPr/>
        </p:nvCxnSpPr>
        <p:spPr>
          <a:xfrm>
            <a:off x="7205472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1"/>
          <p:cNvCxnSpPr/>
          <p:nvPr/>
        </p:nvCxnSpPr>
        <p:spPr>
          <a:xfrm>
            <a:off x="75895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1"/>
          <p:cNvCxnSpPr/>
          <p:nvPr/>
        </p:nvCxnSpPr>
        <p:spPr>
          <a:xfrm>
            <a:off x="7973568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"/>
          <p:cNvCxnSpPr/>
          <p:nvPr/>
        </p:nvCxnSpPr>
        <p:spPr>
          <a:xfrm>
            <a:off x="8357616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"/>
          <p:cNvCxnSpPr/>
          <p:nvPr/>
        </p:nvCxnSpPr>
        <p:spPr>
          <a:xfrm>
            <a:off x="8741664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1"/>
          <p:cNvCxnSpPr/>
          <p:nvPr/>
        </p:nvCxnSpPr>
        <p:spPr>
          <a:xfrm>
            <a:off x="5669280" y="0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1"/>
          <p:cNvCxnSpPr/>
          <p:nvPr/>
        </p:nvCxnSpPr>
        <p:spPr>
          <a:xfrm>
            <a:off x="5669280" y="420624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26;p1"/>
          <p:cNvCxnSpPr/>
          <p:nvPr/>
        </p:nvCxnSpPr>
        <p:spPr>
          <a:xfrm>
            <a:off x="5669280" y="841248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1"/>
          <p:cNvCxnSpPr/>
          <p:nvPr/>
        </p:nvCxnSpPr>
        <p:spPr>
          <a:xfrm>
            <a:off x="5669280" y="1261872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28;p1"/>
          <p:cNvCxnSpPr/>
          <p:nvPr/>
        </p:nvCxnSpPr>
        <p:spPr>
          <a:xfrm>
            <a:off x="5669280" y="1682496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29;p1"/>
          <p:cNvCxnSpPr/>
          <p:nvPr/>
        </p:nvCxnSpPr>
        <p:spPr>
          <a:xfrm>
            <a:off x="5669280" y="2103120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1"/>
          <p:cNvCxnSpPr/>
          <p:nvPr/>
        </p:nvCxnSpPr>
        <p:spPr>
          <a:xfrm>
            <a:off x="5669280" y="2523744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1"/>
          <p:cNvCxnSpPr/>
          <p:nvPr/>
        </p:nvCxnSpPr>
        <p:spPr>
          <a:xfrm>
            <a:off x="5669280" y="2944368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1"/>
          <p:cNvCxnSpPr/>
          <p:nvPr/>
        </p:nvCxnSpPr>
        <p:spPr>
          <a:xfrm>
            <a:off x="5669280" y="3364992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1"/>
          <p:cNvCxnSpPr/>
          <p:nvPr/>
        </p:nvCxnSpPr>
        <p:spPr>
          <a:xfrm>
            <a:off x="5669280" y="3785616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"/>
          <p:cNvCxnSpPr/>
          <p:nvPr/>
        </p:nvCxnSpPr>
        <p:spPr>
          <a:xfrm>
            <a:off x="5669280" y="4168140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1"/>
          <p:cNvCxnSpPr/>
          <p:nvPr/>
        </p:nvCxnSpPr>
        <p:spPr>
          <a:xfrm>
            <a:off x="5669280" y="4626864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"/>
          <p:cNvCxnSpPr/>
          <p:nvPr/>
        </p:nvCxnSpPr>
        <p:spPr>
          <a:xfrm>
            <a:off x="5669280" y="5047488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1"/>
          <p:cNvSpPr/>
          <p:nvPr/>
        </p:nvSpPr>
        <p:spPr>
          <a:xfrm>
            <a:off x="6446520" y="68580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1"/>
          <p:cNvSpPr/>
          <p:nvPr/>
        </p:nvSpPr>
        <p:spPr>
          <a:xfrm>
            <a:off x="7543800" y="132588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1"/>
          <p:cNvSpPr/>
          <p:nvPr/>
        </p:nvSpPr>
        <p:spPr>
          <a:xfrm>
            <a:off x="6903720" y="233172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Google Shape;40;p1"/>
          <p:cNvSpPr/>
          <p:nvPr/>
        </p:nvSpPr>
        <p:spPr>
          <a:xfrm>
            <a:off x="8275320" y="96012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p1"/>
          <p:cNvSpPr/>
          <p:nvPr/>
        </p:nvSpPr>
        <p:spPr>
          <a:xfrm>
            <a:off x="7909560" y="297180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" name="Google Shape;42;p1"/>
          <p:cNvSpPr/>
          <p:nvPr/>
        </p:nvSpPr>
        <p:spPr>
          <a:xfrm>
            <a:off x="7178040" y="370332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1"/>
          <p:cNvSpPr/>
          <p:nvPr/>
        </p:nvSpPr>
        <p:spPr>
          <a:xfrm>
            <a:off x="8458200" y="196596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" name="Google Shape;44;p1"/>
          <p:cNvSpPr/>
          <p:nvPr/>
        </p:nvSpPr>
        <p:spPr>
          <a:xfrm>
            <a:off x="6629400" y="342900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" name="Google Shape;45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1"/>
          <p:cNvSpPr/>
          <p:nvPr/>
        </p:nvSpPr>
        <p:spPr>
          <a:xfrm>
            <a:off x="201168" y="256032"/>
            <a:ext cx="1280160" cy="27432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1"/>
          <p:cNvSpPr/>
          <p:nvPr/>
        </p:nvSpPr>
        <p:spPr>
          <a:xfrm>
            <a:off x="201168" y="2560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PYSPARK</a:t>
            </a:r>
            <a:endParaRPr sz="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572768" y="228939"/>
            <a:ext cx="1554480" cy="274320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" name="Google Shape;49;p1"/>
          <p:cNvSpPr/>
          <p:nvPr/>
        </p:nvSpPr>
        <p:spPr>
          <a:xfrm>
            <a:off x="1572768" y="25603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120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6112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ANALYSIS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420624" y="1549907"/>
            <a:ext cx="4608574" cy="5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 panose="020F0502020204030204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Pakistan Energy Access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816105" y="1974765"/>
            <a:ext cx="4436362" cy="393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90FF"/>
              </a:buClr>
              <a:buSzPts val="3600"/>
              <a:buFont typeface="Calibri" panose="020F0502020204030204"/>
              <a:buNone/>
            </a:pPr>
            <a:r>
              <a:rPr lang="en-US" sz="2800" b="1" i="0" u="none" strike="noStrike" cap="none" dirty="0">
                <a:solidFill>
                  <a:srgbClr val="1E9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Household Panel Survey</a:t>
            </a:r>
            <a:endParaRPr sz="28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432813" y="869145"/>
            <a:ext cx="4703064" cy="36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C9A7"/>
              </a:buClr>
              <a:buSzPts val="2200"/>
            </a:pPr>
            <a:r>
              <a:rPr lang="en-US" sz="2400" b="1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Distributed </a:t>
            </a:r>
            <a:r>
              <a:rPr lang="en-US" sz="2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 Processing using Apache </a:t>
            </a:r>
            <a:r>
              <a:rPr lang="en-US" sz="2400" b="1" i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Spark</a:t>
            </a:r>
            <a:endParaRPr sz="3200" b="0" i="0" u="none" strike="noStrike" cap="none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201168" y="248716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ETL Pipeline  ·  Spark SQL Validation  ·  Performance Benchmarking  ·  Visual Analytics</a:t>
            </a:r>
            <a:endParaRPr sz="11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228600" y="2990088"/>
            <a:ext cx="1709928" cy="71323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"/>
          <p:cNvSpPr/>
          <p:nvPr/>
        </p:nvSpPr>
        <p:spPr>
          <a:xfrm>
            <a:off x="225551" y="3012948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alibri" panose="020F0502020204030204"/>
              <a:buNone/>
            </a:pPr>
            <a:r>
              <a:rPr lang="en-US" sz="850" b="1" i="0" u="none" strike="noStrike" cap="none" dirty="0">
                <a:solidFill>
                  <a:srgbClr val="00C9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Student Name</a:t>
            </a:r>
            <a:endParaRPr sz="8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92610" y="3291840"/>
            <a:ext cx="15499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Insa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900" b="0" i="0" u="none" strike="noStrike" cap="none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Saleem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(043)</a:t>
            </a:r>
            <a:endParaRPr sz="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Isra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Asif (045)</a:t>
            </a:r>
            <a:endParaRPr sz="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Maria Yasmeen (059)</a:t>
            </a:r>
            <a:endParaRPr sz="9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1999488" y="2990088"/>
            <a:ext cx="1691640" cy="71323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1"/>
          <p:cNvSpPr/>
          <p:nvPr/>
        </p:nvSpPr>
        <p:spPr>
          <a:xfrm>
            <a:off x="2045208" y="307238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alibri" panose="020F0502020204030204"/>
              <a:buNone/>
            </a:pPr>
            <a:r>
              <a:rPr lang="en-US" sz="850" b="1" i="0" u="none" strike="noStrike" cap="none" dirty="0">
                <a:solidFill>
                  <a:srgbClr val="00C9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 / Instructor</a:t>
            </a:r>
            <a:endParaRPr sz="8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2045209" y="3200400"/>
            <a:ext cx="16916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Ma’am </a:t>
            </a:r>
            <a:r>
              <a:rPr lang="en-US" sz="1000" b="0" i="0" u="none" strike="noStrike" cap="none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Madiha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Wahid</a:t>
            </a:r>
            <a:endParaRPr sz="10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3773425" y="2990088"/>
            <a:ext cx="1691640" cy="71323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p1"/>
          <p:cNvSpPr/>
          <p:nvPr/>
        </p:nvSpPr>
        <p:spPr>
          <a:xfrm>
            <a:off x="3813048" y="309067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850"/>
              <a:buFont typeface="Calibri" panose="020F0502020204030204"/>
              <a:buNone/>
            </a:pPr>
            <a:r>
              <a:rPr lang="en-US" sz="850" b="1" i="0" u="none" strike="noStrike" cap="none" dirty="0">
                <a:solidFill>
                  <a:srgbClr val="00C9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Date</a:t>
            </a:r>
            <a:endParaRPr sz="8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3820670" y="3200400"/>
            <a:ext cx="16916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19</a:t>
            </a:r>
            <a:r>
              <a:rPr lang="en-US" sz="1000" b="0" i="0" u="none" strike="noStrike" cap="none" baseline="30000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</a:t>
            </a:r>
            <a:r>
              <a:rPr lang="en-US" sz="1000" b="0" i="0" u="none" strike="noStrike" cap="none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May 2026</a:t>
            </a:r>
            <a:endParaRPr sz="10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201168" y="3890772"/>
            <a:ext cx="5303520" cy="475488"/>
          </a:xfrm>
          <a:prstGeom prst="rect">
            <a:avLst/>
          </a:prstGeom>
          <a:solidFill>
            <a:srgbClr val="0A2540"/>
          </a:solidFill>
          <a:ln w="9525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" name="Google Shape;64;p1"/>
          <p:cNvSpPr/>
          <p:nvPr/>
        </p:nvSpPr>
        <p:spPr>
          <a:xfrm>
            <a:off x="201168" y="3877056"/>
            <a:ext cx="5303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 dirty="0" smtClean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Tools : </a:t>
            </a:r>
            <a:r>
              <a:rPr lang="en-US" sz="1100" b="0" i="0" u="none" strike="noStrike" cap="none" dirty="0" err="1">
                <a:solidFill>
                  <a:srgbClr val="F5A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PySpark</a:t>
            </a:r>
            <a:r>
              <a:rPr lang="en-US" sz="1100" b="0" i="0" u="none" strike="noStrike" cap="none" dirty="0">
                <a:solidFill>
                  <a:srgbClr val="F5A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·  Spark SQL  ·  Python  ·  </a:t>
            </a:r>
            <a:r>
              <a:rPr lang="en-US" sz="1100" b="0" i="0" u="none" strike="noStrike" cap="none" dirty="0" err="1">
                <a:solidFill>
                  <a:srgbClr val="F5A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Matplotlib</a:t>
            </a:r>
            <a:r>
              <a:rPr lang="en-US" sz="1100" b="0" i="0" u="none" strike="noStrike" cap="none" dirty="0">
                <a:solidFill>
                  <a:srgbClr val="F5A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·  </a:t>
            </a:r>
            <a:r>
              <a:rPr lang="en-US" sz="1100" b="0" i="0" u="none" strike="noStrike" cap="none" dirty="0" err="1">
                <a:solidFill>
                  <a:srgbClr val="F5A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Jupyter</a:t>
            </a:r>
            <a:r>
              <a:rPr lang="en-US" sz="1100" b="0" i="0" u="none" strike="noStrike" cap="none" dirty="0">
                <a:solidFill>
                  <a:srgbClr val="F5A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/ VS Code</a:t>
            </a:r>
            <a:endParaRPr sz="11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201168" y="4462272"/>
            <a:ext cx="5303520" cy="566928"/>
          </a:xfrm>
          <a:prstGeom prst="rect">
            <a:avLst/>
          </a:prstGeom>
          <a:solidFill>
            <a:srgbClr val="061120"/>
          </a:solidFill>
          <a:ln w="9525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1"/>
          <p:cNvSpPr/>
          <p:nvPr/>
        </p:nvSpPr>
        <p:spPr>
          <a:xfrm>
            <a:off x="274320" y="4462272"/>
            <a:ext cx="5120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onsolas" panose="020B0609020204030204"/>
              <a:buNone/>
            </a:pPr>
            <a:r>
              <a:rPr lang="en-US" sz="1000" b="0" i="0" u="none" strike="noStrike" cap="none" dirty="0">
                <a:solidFill>
                  <a:srgbClr val="8FA8C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Dataset: </a:t>
            </a:r>
            <a:r>
              <a:rPr lang="en-US" sz="1000" b="0" i="0" u="none" strike="noStrike" cap="none" dirty="0">
                <a:solidFill>
                  <a:srgbClr val="00C9A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pakistanenergyaccesshouseholdpanelsurveydata.csv</a:t>
            </a:r>
            <a:endParaRPr sz="10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" name="Google Shape;42;p1"/>
          <p:cNvSpPr/>
          <p:nvPr/>
        </p:nvSpPr>
        <p:spPr>
          <a:xfrm>
            <a:off x="6163056" y="4416552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42;p1"/>
          <p:cNvSpPr/>
          <p:nvPr/>
        </p:nvSpPr>
        <p:spPr>
          <a:xfrm>
            <a:off x="8467344" y="4654296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" name="Google Shape;42;p1"/>
          <p:cNvSpPr/>
          <p:nvPr/>
        </p:nvSpPr>
        <p:spPr>
          <a:xfrm>
            <a:off x="6062472" y="1874520"/>
            <a:ext cx="91440" cy="91440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/>
          <p:nvPr/>
        </p:nvSpPr>
        <p:spPr>
          <a:xfrm>
            <a:off x="0" y="-30480"/>
            <a:ext cx="9144000" cy="74980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2"/>
          <p:cNvSpPr/>
          <p:nvPr/>
        </p:nvSpPr>
        <p:spPr>
          <a:xfrm>
            <a:off x="201168" y="36576"/>
            <a:ext cx="86868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 panose="020F0502020204030204"/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 &amp; Motivation</a:t>
            </a: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201168" y="923544"/>
            <a:ext cx="4251960" cy="169164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2"/>
          <p:cNvSpPr/>
          <p:nvPr/>
        </p:nvSpPr>
        <p:spPr>
          <a:xfrm>
            <a:off x="201168" y="1051560"/>
            <a:ext cx="4251960" cy="347472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" name="Google Shape;78;p2"/>
          <p:cNvSpPr/>
          <p:nvPr/>
        </p:nvSpPr>
        <p:spPr>
          <a:xfrm>
            <a:off x="201168" y="1024128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💡  Energy as a Development Indicator</a:t>
            </a:r>
            <a:endParaRPr sz="1400" b="1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310896" y="1426464"/>
            <a:ext cx="404164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Energy access directly impacts quality of life, productivity, education, and public health — making it a critical policy metric.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663440" y="917448"/>
            <a:ext cx="4251960" cy="169164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81;p2"/>
          <p:cNvSpPr/>
          <p:nvPr/>
        </p:nvSpPr>
        <p:spPr>
          <a:xfrm>
            <a:off x="4663440" y="1024128"/>
            <a:ext cx="4251960" cy="34747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2"/>
          <p:cNvSpPr/>
          <p:nvPr/>
        </p:nvSpPr>
        <p:spPr>
          <a:xfrm>
            <a:off x="4663440" y="1024128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📊  Messy, Large-Scale Survey Data</a:t>
            </a:r>
            <a:endParaRPr sz="14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773168" y="1426464"/>
            <a:ext cx="404164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Household survey datasets contain missing values, inconsistent categories, and mixed data types — requiring a scalable cleaning and processing framework.</a:t>
            </a:r>
            <a:endParaRPr sz="14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201168" y="2791968"/>
            <a:ext cx="4251960" cy="169164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2"/>
          <p:cNvSpPr/>
          <p:nvPr/>
        </p:nvSpPr>
        <p:spPr>
          <a:xfrm>
            <a:off x="201168" y="2898648"/>
            <a:ext cx="4251960" cy="347472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"/>
          <p:cNvSpPr/>
          <p:nvPr/>
        </p:nvSpPr>
        <p:spPr>
          <a:xfrm>
            <a:off x="201168" y="2898648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⚙️  Need for Scalable Processing</a:t>
            </a:r>
            <a:endParaRPr sz="14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310896" y="3300984"/>
            <a:ext cx="404164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Apache Spark provides distributed, in-memory computation that scales to millions of records, far beyond what single-threaded Python can handle.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4663440" y="2775204"/>
            <a:ext cx="4251960" cy="169164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"/>
          <p:cNvSpPr/>
          <p:nvPr/>
        </p:nvSpPr>
        <p:spPr>
          <a:xfrm>
            <a:off x="4663440" y="2898648"/>
            <a:ext cx="4251960" cy="347472"/>
          </a:xfrm>
          <a:prstGeom prst="rect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"/>
          <p:cNvSpPr/>
          <p:nvPr/>
        </p:nvSpPr>
        <p:spPr>
          <a:xfrm>
            <a:off x="4663440" y="2898648"/>
            <a:ext cx="4251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✅  Correctness &amp; Reproducibility</a:t>
            </a:r>
            <a:endParaRPr sz="14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773168" y="3300984"/>
            <a:ext cx="404164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Results from Spark SQL </a:t>
            </a:r>
            <a:r>
              <a:rPr lang="en-US" sz="1400" dirty="0" smtClean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pure python must </a:t>
            </a: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 validated against each other to guarantee analytical correctness.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182880" y="4681728"/>
            <a:ext cx="8778240" cy="384048"/>
          </a:xfrm>
          <a:prstGeom prst="rect">
            <a:avLst/>
          </a:prstGeom>
          <a:solidFill>
            <a:srgbClr val="0A2540"/>
          </a:solidFill>
          <a:ln w="9525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8FA8C8"/>
              </a:buClr>
              <a:buSzPts val="1000"/>
            </a:pPr>
            <a:r>
              <a:rPr lang="en-US" sz="105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We </a:t>
            </a:r>
            <a:r>
              <a:rPr lang="en-US" sz="105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will see, do traditional Python struggles as data grows ? or Spark does the processing smoothly and efficiently</a:t>
            </a:r>
            <a:r>
              <a:rPr lang="en-US" sz="105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?</a:t>
            </a:r>
            <a:endParaRPr lang="en-US" sz="105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 panose="020F0502020204030204"/>
              <a:buNone/>
            </a:pPr>
            <a:endParaRPr sz="700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3"/>
          <p:cNvSpPr/>
          <p:nvPr/>
        </p:nvSpPr>
        <p:spPr>
          <a:xfrm>
            <a:off x="201168" y="36576"/>
            <a:ext cx="86868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 panose="020F0502020204030204"/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Overview</a:t>
            </a: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01168" y="731520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Calibri" panose="020F0502020204030204"/>
              <a:buNone/>
            </a:pPr>
            <a:endParaRPr sz="10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01295" y="1024255"/>
            <a:ext cx="8740775" cy="3547745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3"/>
          <p:cNvSpPr/>
          <p:nvPr/>
        </p:nvSpPr>
        <p:spPr>
          <a:xfrm>
            <a:off x="201295" y="823087"/>
            <a:ext cx="8741410" cy="603885"/>
          </a:xfrm>
          <a:prstGeom prst="rect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3"/>
          <p:cNvSpPr/>
          <p:nvPr/>
        </p:nvSpPr>
        <p:spPr>
          <a:xfrm>
            <a:off x="201168" y="823087"/>
            <a:ext cx="8740902" cy="639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🎯 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Four Core Objectives</a:t>
            </a:r>
            <a:endParaRPr sz="1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3"/>
          <p:cNvSpPr/>
          <p:nvPr>
            <p:custDataLst>
              <p:tags r:id="rId1"/>
            </p:custDataLst>
          </p:nvPr>
        </p:nvSpPr>
        <p:spPr>
          <a:xfrm>
            <a:off x="347472" y="1591056"/>
            <a:ext cx="310896" cy="310896"/>
          </a:xfrm>
          <a:prstGeom prst="ellipse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3"/>
          <p:cNvSpPr/>
          <p:nvPr>
            <p:custDataLst>
              <p:tags r:id="rId2"/>
            </p:custDataLst>
          </p:nvPr>
        </p:nvSpPr>
        <p:spPr>
          <a:xfrm>
            <a:off x="347472" y="15910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3"/>
          <p:cNvSpPr/>
          <p:nvPr>
            <p:custDataLst>
              <p:tags r:id="rId3"/>
            </p:custDataLst>
          </p:nvPr>
        </p:nvSpPr>
        <p:spPr>
          <a:xfrm>
            <a:off x="749935" y="1481455"/>
            <a:ext cx="74041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 a clean, robust ETL pipeline using PySpark</a:t>
            </a:r>
            <a:endParaRPr sz="14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3"/>
          <p:cNvSpPr/>
          <p:nvPr>
            <p:custDataLst>
              <p:tags r:id="rId4"/>
            </p:custDataLst>
          </p:nvPr>
        </p:nvSpPr>
        <p:spPr>
          <a:xfrm>
            <a:off x="347472" y="2340864"/>
            <a:ext cx="310896" cy="310896"/>
          </a:xfrm>
          <a:prstGeom prst="ellipse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3"/>
          <p:cNvSpPr/>
          <p:nvPr>
            <p:custDataLst>
              <p:tags r:id="rId5"/>
            </p:custDataLst>
          </p:nvPr>
        </p:nvSpPr>
        <p:spPr>
          <a:xfrm>
            <a:off x="347472" y="23408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3"/>
          <p:cNvSpPr/>
          <p:nvPr>
            <p:custDataLst>
              <p:tags r:id="rId6"/>
            </p:custDataLst>
          </p:nvPr>
        </p:nvSpPr>
        <p:spPr>
          <a:xfrm>
            <a:off x="749935" y="2231390"/>
            <a:ext cx="766318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altLang="en-GB"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ETL pipeline (extract, transform, load)</a:t>
            </a:r>
            <a:endParaRPr lang="en-US" altLang="en-GB" sz="14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Google Shape;112;p3"/>
          <p:cNvSpPr/>
          <p:nvPr>
            <p:custDataLst>
              <p:tags r:id="rId7"/>
            </p:custDataLst>
          </p:nvPr>
        </p:nvSpPr>
        <p:spPr>
          <a:xfrm>
            <a:off x="347472" y="3090672"/>
            <a:ext cx="310896" cy="310896"/>
          </a:xfrm>
          <a:prstGeom prst="ellipse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3"/>
          <p:cNvSpPr/>
          <p:nvPr>
            <p:custDataLst>
              <p:tags r:id="rId8"/>
            </p:custDataLst>
          </p:nvPr>
        </p:nvSpPr>
        <p:spPr>
          <a:xfrm>
            <a:off x="347472" y="30906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3"/>
          <p:cNvSpPr/>
          <p:nvPr>
            <p:custDataLst>
              <p:tags r:id="rId9"/>
            </p:custDataLst>
          </p:nvPr>
        </p:nvSpPr>
        <p:spPr>
          <a:xfrm>
            <a:off x="749935" y="2980690"/>
            <a:ext cx="771144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altLang="en-GB" sz="1400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Map / filter / reduce / </a:t>
            </a:r>
            <a:r>
              <a:rPr lang="en-US" altLang="en-GB" sz="1400" dirty="0" err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groupBy</a:t>
            </a:r>
            <a:r>
              <a:rPr lang="en-US" altLang="en-GB" sz="1400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altLang="en-GB" sz="1400" dirty="0" smtClean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examples</a:t>
            </a:r>
            <a:endParaRPr lang="en-US" altLang="en-GB" sz="1400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Google Shape;115;p3"/>
          <p:cNvSpPr/>
          <p:nvPr>
            <p:custDataLst>
              <p:tags r:id="rId10"/>
            </p:custDataLst>
          </p:nvPr>
        </p:nvSpPr>
        <p:spPr>
          <a:xfrm>
            <a:off x="347472" y="3840480"/>
            <a:ext cx="310896" cy="310896"/>
          </a:xfrm>
          <a:prstGeom prst="ellipse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3"/>
          <p:cNvSpPr/>
          <p:nvPr>
            <p:custDataLst>
              <p:tags r:id="rId11"/>
            </p:custDataLst>
          </p:nvPr>
        </p:nvSpPr>
        <p:spPr>
          <a:xfrm>
            <a:off x="347472" y="38404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3"/>
          <p:cNvSpPr/>
          <p:nvPr>
            <p:custDataLst>
              <p:tags r:id="rId12"/>
            </p:custDataLst>
          </p:nvPr>
        </p:nvSpPr>
        <p:spPr>
          <a:xfrm>
            <a:off x="749935" y="3730625"/>
            <a:ext cx="758698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 panose="020F0502020204030204"/>
              <a:buNone/>
            </a:pPr>
            <a:r>
              <a:rPr lang="en-US" altLang="en-GB"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Spark SQL + performance comparison vs pure Python. Performance graphs (rendered as ASCII so it works without extra plotting libraries)</a:t>
            </a:r>
            <a:endParaRPr lang="en-US" altLang="en-GB" sz="14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663440" y="1024128"/>
            <a:ext cx="42793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120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06112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773168" y="1463040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773168" y="2066544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773168" y="3877056"/>
            <a:ext cx="2743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0" y="-30480"/>
            <a:ext cx="9144000" cy="908304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/>
          <p:nvPr/>
        </p:nvSpPr>
        <p:spPr>
          <a:xfrm>
            <a:off x="201168" y="36576"/>
            <a:ext cx="86868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 panose="020F0502020204030204"/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Tools &amp; Technologies</a:t>
            </a:r>
            <a:endParaRPr sz="2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01168" y="1005840"/>
            <a:ext cx="8741664" cy="65836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5"/>
          <p:cNvSpPr/>
          <p:nvPr/>
        </p:nvSpPr>
        <p:spPr>
          <a:xfrm>
            <a:off x="201168" y="1005840"/>
            <a:ext cx="91440" cy="658368"/>
          </a:xfrm>
          <a:prstGeom prst="rect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5"/>
          <p:cNvSpPr/>
          <p:nvPr/>
        </p:nvSpPr>
        <p:spPr>
          <a:xfrm>
            <a:off x="347472" y="1005840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PySpark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2066544" y="1133856"/>
            <a:ext cx="0" cy="402336"/>
          </a:xfrm>
          <a:prstGeom prst="straightConnector1">
            <a:avLst/>
          </a:prstGeom>
          <a:noFill/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p5"/>
          <p:cNvSpPr/>
          <p:nvPr/>
        </p:nvSpPr>
        <p:spPr>
          <a:xfrm>
            <a:off x="2212848" y="1005840"/>
            <a:ext cx="66019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Spark DataFrame API for scalable, distributed data processing at scale</a:t>
            </a:r>
            <a:endParaRPr sz="14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201168" y="1755648"/>
            <a:ext cx="8741664" cy="65836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01168" y="1755648"/>
            <a:ext cx="91440" cy="658368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5"/>
          <p:cNvSpPr/>
          <p:nvPr/>
        </p:nvSpPr>
        <p:spPr>
          <a:xfrm>
            <a:off x="347472" y="1755648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Spark SQL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77" name="Google Shape;177;p5"/>
          <p:cNvCxnSpPr/>
          <p:nvPr/>
        </p:nvCxnSpPr>
        <p:spPr>
          <a:xfrm>
            <a:off x="2066544" y="1883664"/>
            <a:ext cx="0" cy="402336"/>
          </a:xfrm>
          <a:prstGeom prst="straightConnector1">
            <a:avLst/>
          </a:prstGeom>
          <a:noFill/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5"/>
          <p:cNvSpPr/>
          <p:nvPr/>
        </p:nvSpPr>
        <p:spPr>
          <a:xfrm>
            <a:off x="2212848" y="1755648"/>
            <a:ext cx="66019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SQL queries executed against registered Spark temporary views — used for validation</a:t>
            </a:r>
            <a:endParaRPr sz="14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01168" y="2505456"/>
            <a:ext cx="8741664" cy="65836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201168" y="2505456"/>
            <a:ext cx="91440" cy="65836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5"/>
          <p:cNvSpPr/>
          <p:nvPr/>
        </p:nvSpPr>
        <p:spPr>
          <a:xfrm>
            <a:off x="347472" y="2505456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Python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82" name="Google Shape;182;p5"/>
          <p:cNvCxnSpPr/>
          <p:nvPr/>
        </p:nvCxnSpPr>
        <p:spPr>
          <a:xfrm>
            <a:off x="2066544" y="2633472"/>
            <a:ext cx="0" cy="402336"/>
          </a:xfrm>
          <a:prstGeom prst="straightConnector1">
            <a:avLst/>
          </a:prstGeom>
          <a:noFill/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p5"/>
          <p:cNvSpPr/>
          <p:nvPr/>
        </p:nvSpPr>
        <p:spPr>
          <a:xfrm>
            <a:off x="2212848" y="2505456"/>
            <a:ext cx="66019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Orchestration, baseline benchmarking, and utility scripting (csv.DictReader)</a:t>
            </a:r>
            <a:endParaRPr sz="14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201168" y="3255264"/>
            <a:ext cx="8741664" cy="65836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5"/>
          <p:cNvSpPr/>
          <p:nvPr/>
        </p:nvSpPr>
        <p:spPr>
          <a:xfrm>
            <a:off x="201168" y="3255264"/>
            <a:ext cx="91440" cy="658368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5"/>
          <p:cNvSpPr/>
          <p:nvPr/>
        </p:nvSpPr>
        <p:spPr>
          <a:xfrm>
            <a:off x="347472" y="3255264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Matplotlib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87" name="Google Shape;187;p5"/>
          <p:cNvCxnSpPr/>
          <p:nvPr/>
        </p:nvCxnSpPr>
        <p:spPr>
          <a:xfrm>
            <a:off x="2066544" y="3383280"/>
            <a:ext cx="0" cy="402336"/>
          </a:xfrm>
          <a:prstGeom prst="straightConnector1">
            <a:avLst/>
          </a:prstGeom>
          <a:noFill/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5"/>
          <p:cNvSpPr/>
          <p:nvPr/>
        </p:nvSpPr>
        <p:spPr>
          <a:xfrm>
            <a:off x="2212848" y="3255264"/>
            <a:ext cx="66019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Chart generation — all plots exported in JPG format only (no PNG output)</a:t>
            </a:r>
            <a:endParaRPr sz="14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201168" y="4005072"/>
            <a:ext cx="8741664" cy="65836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5"/>
          <p:cNvSpPr/>
          <p:nvPr/>
        </p:nvSpPr>
        <p:spPr>
          <a:xfrm>
            <a:off x="201168" y="4005072"/>
            <a:ext cx="91440" cy="658368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5"/>
          <p:cNvSpPr/>
          <p:nvPr/>
        </p:nvSpPr>
        <p:spPr>
          <a:xfrm>
            <a:off x="347472" y="4005072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Jupyter / VS Code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92" name="Google Shape;192;p5"/>
          <p:cNvCxnSpPr/>
          <p:nvPr/>
        </p:nvCxnSpPr>
        <p:spPr>
          <a:xfrm>
            <a:off x="2066544" y="4133088"/>
            <a:ext cx="0" cy="402336"/>
          </a:xfrm>
          <a:prstGeom prst="straightConnector1">
            <a:avLst/>
          </a:prstGeom>
          <a:noFill/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5"/>
          <p:cNvSpPr/>
          <p:nvPr/>
        </p:nvSpPr>
        <p:spPr>
          <a:xfrm>
            <a:off x="2212848" y="4005072"/>
            <a:ext cx="66019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Interactive notebook development environment — primary execution environment</a:t>
            </a:r>
            <a:endParaRPr sz="14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01168" y="4663440"/>
            <a:ext cx="8741664" cy="384048"/>
          </a:xfrm>
          <a:prstGeom prst="rect">
            <a:avLst/>
          </a:prstGeom>
          <a:solidFill>
            <a:srgbClr val="0A2540"/>
          </a:solidFill>
          <a:ln w="9525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p5"/>
          <p:cNvSpPr/>
          <p:nvPr/>
        </p:nvSpPr>
        <p:spPr>
          <a:xfrm>
            <a:off x="274320" y="4663440"/>
            <a:ext cx="85587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onsolas" panose="020B0609020204030204"/>
              <a:buNone/>
            </a:pPr>
            <a:endParaRPr sz="105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6"/>
          <p:cNvSpPr/>
          <p:nvPr/>
        </p:nvSpPr>
        <p:spPr>
          <a:xfrm>
            <a:off x="201168" y="36576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 panose="020F0502020204030204"/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ETL Pipeline Methodology</a:t>
            </a:r>
            <a:endParaRPr sz="2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01168" y="1040892"/>
            <a:ext cx="4251960" cy="107899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6"/>
          <p:cNvSpPr/>
          <p:nvPr/>
        </p:nvSpPr>
        <p:spPr>
          <a:xfrm>
            <a:off x="310896" y="1298448"/>
            <a:ext cx="402336" cy="402336"/>
          </a:xfrm>
          <a:prstGeom prst="ellipse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9" name="Google Shape;239;p6"/>
          <p:cNvSpPr/>
          <p:nvPr/>
        </p:nvSpPr>
        <p:spPr>
          <a:xfrm>
            <a:off x="310896" y="12984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804672" y="1097280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90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1E9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EXTRACT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804672" y="1463040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Load raw CSV into Spark DataFrame via spark.read.option("header","true").csv(...)</a:t>
            </a:r>
            <a:endParaRPr sz="12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663440" y="1040892"/>
            <a:ext cx="4251960" cy="107899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6"/>
          <p:cNvSpPr/>
          <p:nvPr/>
        </p:nvSpPr>
        <p:spPr>
          <a:xfrm>
            <a:off x="4773168" y="1298448"/>
            <a:ext cx="402336" cy="402336"/>
          </a:xfrm>
          <a:prstGeom prst="ellipse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6"/>
          <p:cNvSpPr/>
          <p:nvPr/>
        </p:nvSpPr>
        <p:spPr>
          <a:xfrm>
            <a:off x="4773168" y="12984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266944" y="1097280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6B3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TRANSFORM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266944" y="1463040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Standardize categories, safe-cast numerics, derive connection_status, filter nulls/UNKNOWN</a:t>
            </a:r>
            <a:endParaRPr sz="12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01168" y="2330958"/>
            <a:ext cx="4251960" cy="107899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6"/>
          <p:cNvSpPr/>
          <p:nvPr/>
        </p:nvSpPr>
        <p:spPr>
          <a:xfrm>
            <a:off x="310896" y="2542032"/>
            <a:ext cx="402336" cy="402336"/>
          </a:xfrm>
          <a:prstGeom prst="ellipse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9" name="Google Shape;249;p6"/>
          <p:cNvSpPr/>
          <p:nvPr/>
        </p:nvSpPr>
        <p:spPr>
          <a:xfrm>
            <a:off x="310896" y="25420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804672" y="2340864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00C9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LOAD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804672" y="2706624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Export connected_counts_by_region to CSV and JSONL in etl_output/</a:t>
            </a:r>
            <a:endParaRPr sz="12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663440" y="2333244"/>
            <a:ext cx="4251960" cy="107899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p6"/>
          <p:cNvSpPr/>
          <p:nvPr/>
        </p:nvSpPr>
        <p:spPr>
          <a:xfrm>
            <a:off x="4773168" y="2542032"/>
            <a:ext cx="402336" cy="402336"/>
          </a:xfrm>
          <a:prstGeom prst="ellipse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6"/>
          <p:cNvSpPr/>
          <p:nvPr/>
        </p:nvSpPr>
        <p:spPr>
          <a:xfrm>
            <a:off x="4773168" y="25420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266944" y="2340864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9B59B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VALIDATE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266944" y="2706624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 panose="020F0502020204030204"/>
              <a:buNone/>
            </a:pPr>
            <a:r>
              <a:rPr lang="en-US" sz="12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Compare Spark SQL and </a:t>
            </a:r>
            <a:r>
              <a:rPr lang="en-US" sz="1200" dirty="0" err="1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DataFrame</a:t>
            </a:r>
            <a:r>
              <a:rPr lang="en-US" sz="12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aggregations </a:t>
            </a:r>
            <a:r>
              <a:rPr lang="en-US" sz="1200" dirty="0" smtClean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expect zero row mismatches</a:t>
            </a:r>
            <a:endParaRPr sz="12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219456" y="3621024"/>
            <a:ext cx="4251960" cy="107899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6"/>
          <p:cNvSpPr/>
          <p:nvPr/>
        </p:nvSpPr>
        <p:spPr>
          <a:xfrm>
            <a:off x="310896" y="3785616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9" name="Google Shape;259;p6"/>
          <p:cNvSpPr/>
          <p:nvPr/>
        </p:nvSpPr>
        <p:spPr>
          <a:xfrm>
            <a:off x="310896" y="37856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804672" y="3584448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5A62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ANALYZE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804672" y="3950208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 panose="020F0502020204030204"/>
              <a:buNone/>
            </a:pPr>
            <a:r>
              <a:rPr lang="en-US" sz="12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Produce multiple unique analytical plots across demographics, geography, and </a:t>
            </a:r>
            <a:r>
              <a:rPr lang="en-US" sz="1200" dirty="0" err="1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numerics</a:t>
            </a:r>
            <a:endParaRPr sz="12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4663440" y="3611880"/>
            <a:ext cx="4251960" cy="1078992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3" name="Google Shape;263;p6"/>
          <p:cNvSpPr/>
          <p:nvPr/>
        </p:nvSpPr>
        <p:spPr>
          <a:xfrm>
            <a:off x="4773168" y="3785616"/>
            <a:ext cx="402336" cy="402336"/>
          </a:xfrm>
          <a:prstGeom prst="ellipse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" name="Google Shape;264;p6"/>
          <p:cNvSpPr/>
          <p:nvPr/>
        </p:nvSpPr>
        <p:spPr>
          <a:xfrm>
            <a:off x="4773168" y="37856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5266944" y="3584448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E74C3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BENCHMARK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5266944" y="3950208"/>
            <a:ext cx="35478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 panose="020F0502020204030204"/>
              <a:buNone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Measure execution time: Spark DataFrame vs Spark SQL vs pure Python CSV scan</a:t>
            </a:r>
            <a:endParaRPr sz="12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0" y="-30480"/>
            <a:ext cx="9144000" cy="81534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8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3" name="Google Shape;203;p8"/>
          <p:cNvSpPr/>
          <p:nvPr/>
        </p:nvSpPr>
        <p:spPr>
          <a:xfrm>
            <a:off x="201168" y="36576"/>
            <a:ext cx="8686800" cy="7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 panose="020F0502020204030204"/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Cleaning &amp; Quality Rules</a:t>
            </a:r>
            <a:endParaRPr sz="2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01168" y="1005840"/>
            <a:ext cx="2816352" cy="316992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8"/>
          <p:cNvSpPr/>
          <p:nvPr/>
        </p:nvSpPr>
        <p:spPr>
          <a:xfrm>
            <a:off x="201168" y="969264"/>
            <a:ext cx="2816352" cy="560832"/>
          </a:xfrm>
          <a:prstGeom prst="rect">
            <a:avLst/>
          </a:prstGeom>
          <a:solidFill>
            <a:srgbClr val="E74C3C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8"/>
          <p:cNvSpPr/>
          <p:nvPr/>
        </p:nvSpPr>
        <p:spPr>
          <a:xfrm>
            <a:off x="201168" y="1005840"/>
            <a:ext cx="281635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Category Columns</a:t>
            </a:r>
            <a:endParaRPr sz="1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292608" y="1533144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Remove null values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92608" y="1993392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Remove empty strings</a:t>
            </a:r>
            <a:endParaRPr sz="140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92608" y="2563368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Remove literal 'UNKNOWN' entries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92608" y="3246120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Applied to: Region, District, Cultural Belt, Gender, SEC, Housing Type, Area Type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172968" y="1005840"/>
            <a:ext cx="2816352" cy="316992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p8"/>
          <p:cNvSpPr/>
          <p:nvPr/>
        </p:nvSpPr>
        <p:spPr>
          <a:xfrm>
            <a:off x="3172968" y="1005840"/>
            <a:ext cx="2816352" cy="524256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8"/>
          <p:cNvSpPr/>
          <p:nvPr/>
        </p:nvSpPr>
        <p:spPr>
          <a:xfrm>
            <a:off x="3172968" y="1005840"/>
            <a:ext cx="2816352" cy="524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120"/>
              </a:buClr>
              <a:buSzPts val="1100"/>
              <a:buFont typeface="Calibri" panose="020F0502020204030204"/>
              <a:buNone/>
            </a:pPr>
            <a:r>
              <a:rPr lang="en-US" sz="1600" b="1" dirty="0">
                <a:solidFill>
                  <a:srgbClr val="06112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Connection Status</a:t>
            </a:r>
            <a:endParaRPr sz="1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264408" y="1549527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Map code 1 → 'Connected'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3264408" y="2138362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Map code 2 → 'Not Connected'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287268" y="2752344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Unknown / NA → excluded from grouped analyses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264408" y="3330702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Clean labels used in all charts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144768" y="1005840"/>
            <a:ext cx="2816352" cy="316992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8"/>
          <p:cNvSpPr/>
          <p:nvPr/>
        </p:nvSpPr>
        <p:spPr>
          <a:xfrm>
            <a:off x="6144768" y="1005840"/>
            <a:ext cx="2816352" cy="524256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8"/>
          <p:cNvSpPr/>
          <p:nvPr/>
        </p:nvSpPr>
        <p:spPr>
          <a:xfrm>
            <a:off x="6144768" y="1005840"/>
            <a:ext cx="281635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Numeric Columns</a:t>
            </a:r>
            <a:endParaRPr sz="1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236208" y="1724406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Apply safe numeric casting (</a:t>
            </a:r>
            <a:r>
              <a:rPr lang="en-US" sz="1400" dirty="0" err="1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safe_int</a:t>
            </a: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/ </a:t>
            </a:r>
            <a:r>
              <a:rPr lang="en-US" sz="1400" dirty="0" err="1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safe_float</a:t>
            </a: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236208" y="2343912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Drop null or non-numeric values before plotting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254496" y="3083814"/>
            <a:ext cx="263347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Calibri" panose="020F0502020204030204"/>
              <a:buNone/>
            </a:pPr>
            <a:r>
              <a:rPr lang="en-US" sz="1400" dirty="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✓  Used for: Household size, Monthly spend, Distance to connected HH</a:t>
            </a:r>
            <a:endParaRPr sz="1400" dirty="0">
              <a:solidFill>
                <a:srgbClr val="8FA8C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01168" y="4340352"/>
            <a:ext cx="8741664" cy="605028"/>
          </a:xfrm>
          <a:prstGeom prst="rect">
            <a:avLst/>
          </a:prstGeom>
          <a:solidFill>
            <a:srgbClr val="061120"/>
          </a:solidFill>
          <a:ln w="12700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"/>
          <p:cNvSpPr/>
          <p:nvPr/>
        </p:nvSpPr>
        <p:spPr>
          <a:xfrm>
            <a:off x="0" y="0"/>
            <a:ext cx="9144000" cy="7497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8" name="Google Shape;308;p7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B59B6"/>
          </a:solidFill>
          <a:ln w="12700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9" name="Google Shape;309;p7"/>
          <p:cNvSpPr/>
          <p:nvPr/>
        </p:nvSpPr>
        <p:spPr>
          <a:xfrm>
            <a:off x="201168" y="36576"/>
            <a:ext cx="86868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 panose="020F0502020204030204"/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Functional Programming Transformations</a:t>
            </a: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201168" y="1005840"/>
            <a:ext cx="8741664" cy="84124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7"/>
          <p:cNvSpPr/>
          <p:nvPr/>
        </p:nvSpPr>
        <p:spPr>
          <a:xfrm>
            <a:off x="201168" y="1005840"/>
            <a:ext cx="1115568" cy="841248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3" name="Google Shape;313;p7"/>
          <p:cNvSpPr/>
          <p:nvPr/>
        </p:nvSpPr>
        <p:spPr>
          <a:xfrm>
            <a:off x="201168" y="1005840"/>
            <a:ext cx="11155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 panose="020B0609020204030204"/>
              <a:buNone/>
            </a:pPr>
            <a:r>
              <a:rPr lang="en-US" sz="13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map()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1408176" y="1042416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withColumn + when/otherwise maps raw connectivity codes (1 or 2) to readable labels — applied to every row in the DataFrame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1408176" y="1499616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 panose="020B0609020204030204"/>
              <a:buNone/>
            </a:pPr>
            <a:r>
              <a:rPr lang="en-US" sz="950">
                <a:solidFill>
                  <a:srgbClr val="00C9A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df.withColumn('connection_status', when(col==1,'Connected').otherwise('Not Connected'))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201168" y="1965960"/>
            <a:ext cx="8741664" cy="84124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7"/>
          <p:cNvSpPr/>
          <p:nvPr/>
        </p:nvSpPr>
        <p:spPr>
          <a:xfrm>
            <a:off x="201168" y="1965960"/>
            <a:ext cx="1115568" cy="841248"/>
          </a:xfrm>
          <a:prstGeom prst="rect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7"/>
          <p:cNvSpPr/>
          <p:nvPr/>
        </p:nvSpPr>
        <p:spPr>
          <a:xfrm>
            <a:off x="201168" y="1965960"/>
            <a:ext cx="11155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 panose="020B0609020204030204"/>
              <a:buNone/>
            </a:pPr>
            <a:r>
              <a:rPr lang="en-US" sz="13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filter()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1408176" y="2002536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.filter() removes rows where labels are empty, null, or 'UNKNOWN' — ensuring only high-quality data enters analytics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1408176" y="2459736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 panose="020B0609020204030204"/>
              <a:buNone/>
            </a:pPr>
            <a:r>
              <a:rPr lang="en-US" sz="950">
                <a:solidFill>
                  <a:srgbClr val="00C9A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df.filter(col('connection_status') != 'Unknown/NA')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201168" y="2926080"/>
            <a:ext cx="8741664" cy="84124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7"/>
          <p:cNvSpPr/>
          <p:nvPr/>
        </p:nvSpPr>
        <p:spPr>
          <a:xfrm>
            <a:off x="201168" y="2926080"/>
            <a:ext cx="1115568" cy="841248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7"/>
          <p:cNvSpPr/>
          <p:nvPr/>
        </p:nvSpPr>
        <p:spPr>
          <a:xfrm>
            <a:off x="201168" y="2926080"/>
            <a:ext cx="11155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 panose="020B0609020204030204"/>
              <a:buNone/>
            </a:pPr>
            <a:r>
              <a:rPr lang="en-US" sz="13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groupBy()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1408176" y="2962656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.groupBy('region') or .groupBy('connection_status') groups related rows for aggregation — equivalent to SQL GROUP BY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1408176" y="3419856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 panose="020B0609020204030204"/>
              <a:buNone/>
            </a:pPr>
            <a:r>
              <a:rPr lang="en-US" sz="950">
                <a:solidFill>
                  <a:srgbClr val="00C9A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df.groupBy('region').agg(F.sum('is_connected').alias('count'))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201168" y="3886200"/>
            <a:ext cx="8741664" cy="84124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7" name="Google Shape;327;p7"/>
          <p:cNvSpPr/>
          <p:nvPr/>
        </p:nvSpPr>
        <p:spPr>
          <a:xfrm>
            <a:off x="201168" y="3886200"/>
            <a:ext cx="1115568" cy="84124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8" name="Google Shape;328;p7"/>
          <p:cNvSpPr/>
          <p:nvPr/>
        </p:nvSpPr>
        <p:spPr>
          <a:xfrm>
            <a:off x="201168" y="3886200"/>
            <a:ext cx="11155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 panose="020B0609020204030204"/>
              <a:buNone/>
            </a:pPr>
            <a:r>
              <a:rPr lang="en-US" sz="130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reduce()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1408176" y="3922776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.count() or .agg(F.sum(...)) collapses each group into a single numeric result — e.g. total connected HHs per region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1408176" y="4379976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onsolas" panose="020B0609020204030204"/>
              <a:buNone/>
            </a:pPr>
            <a:r>
              <a:rPr lang="en-US" sz="950">
                <a:solidFill>
                  <a:srgbClr val="00C9A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df.agg(F.sum('count').alias('total_connected')).collect()[0]</a:t>
            </a:r>
            <a:endParaRPr sz="9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182880" y="4681728"/>
            <a:ext cx="8778240" cy="384048"/>
          </a:xfrm>
          <a:prstGeom prst="rect">
            <a:avLst/>
          </a:prstGeom>
          <a:solidFill>
            <a:srgbClr val="0A2540"/>
          </a:solidFill>
          <a:ln w="9525" cap="flat" cmpd="sng">
            <a:solidFill>
              <a:srgbClr val="9B59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7"/>
          <p:cNvSpPr/>
          <p:nvPr/>
        </p:nvSpPr>
        <p:spPr>
          <a:xfrm>
            <a:off x="274320" y="4883785"/>
            <a:ext cx="859536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 panose="020F0502020204030204"/>
              <a:buNone/>
            </a:pPr>
            <a:endParaRPr sz="10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11505" y="339725"/>
            <a:ext cx="7795260" cy="4564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2400" b="1"/>
              <a:t>What is Benchmarking?</a:t>
            </a:r>
            <a:endParaRPr lang="en-US" altLang="en-GB" sz="2400" b="1"/>
          </a:p>
          <a:p>
            <a:endParaRPr lang="en-US" altLang="en-GB" sz="1600"/>
          </a:p>
          <a:p>
            <a:pPr algn="ctr"/>
            <a:r>
              <a:rPr lang="en-US" altLang="en-GB" sz="1600"/>
              <a:t>“Comparing the performance of different systems or methods using measurable tests.”</a:t>
            </a:r>
            <a:endParaRPr lang="en-US" altLang="en-GB" sz="1600"/>
          </a:p>
          <a:p>
            <a:br>
              <a:rPr lang="en-US" altLang="en-GB" sz="1600" b="1"/>
            </a:br>
            <a:r>
              <a:rPr lang="en-US" altLang="en-GB" sz="1600" b="1"/>
              <a:t>We test following between</a:t>
            </a:r>
            <a:r>
              <a:rPr lang="en-US" altLang="en-GB" sz="1600" b="1"/>
              <a:t> Spark SQL vs Pure Python:</a:t>
            </a:r>
            <a:endParaRPr lang="en-US" altLang="en-GB" sz="1600" b="1"/>
          </a:p>
          <a:p>
            <a:r>
              <a:rPr lang="en-US" altLang="en-GB" sz="1600"/>
              <a:t>which method is faster,</a:t>
            </a:r>
            <a:endParaRPr lang="en-US" altLang="en-GB" sz="1600"/>
          </a:p>
          <a:p>
            <a:r>
              <a:rPr lang="en-US" altLang="en-GB" sz="1600"/>
              <a:t>more efficient,</a:t>
            </a:r>
            <a:endParaRPr lang="en-US" altLang="en-GB" sz="1600"/>
          </a:p>
          <a:p>
            <a:r>
              <a:rPr lang="en-US" altLang="en-GB" sz="1600"/>
              <a:t>scalable,</a:t>
            </a:r>
            <a:endParaRPr lang="en-US" altLang="en-GB" sz="1600"/>
          </a:p>
          <a:p>
            <a:r>
              <a:rPr lang="en-US" altLang="en-GB" sz="1600"/>
              <a:t>and performs better under workload.</a:t>
            </a:r>
            <a:endParaRPr lang="en-US" altLang="en-GB" sz="1600"/>
          </a:p>
          <a:p>
            <a:endParaRPr lang="en-US" altLang="en-GB" sz="1600"/>
          </a:p>
          <a:p>
            <a:r>
              <a:rPr lang="en-US" altLang="en-GB" sz="1600" b="1"/>
              <a:t>We are comparing:</a:t>
            </a:r>
            <a:endParaRPr lang="en-US" altLang="en-GB" sz="1600" b="1"/>
          </a:p>
          <a:p>
            <a:r>
              <a:rPr lang="en-US" altLang="en-GB" sz="1600"/>
              <a:t>execution time</a:t>
            </a:r>
            <a:endParaRPr lang="en-US" altLang="en-GB" sz="1600"/>
          </a:p>
          <a:p>
            <a:r>
              <a:rPr lang="en-US" altLang="en-GB" sz="1600"/>
              <a:t>scalability</a:t>
            </a:r>
            <a:endParaRPr lang="en-US" altLang="en-GB" sz="1600"/>
          </a:p>
          <a:p>
            <a:r>
              <a:rPr lang="en-US" altLang="en-GB" sz="1600"/>
              <a:t>processing efficiency</a:t>
            </a:r>
            <a:endParaRPr lang="en-US" altLang="en-GB" sz="1600"/>
          </a:p>
          <a:p>
            <a:r>
              <a:rPr lang="en-US" altLang="en-GB" sz="1600"/>
              <a:t>using the same dataset and same operations.</a:t>
            </a:r>
            <a:endParaRPr lang="en-US" altLang="en-GB" sz="1600"/>
          </a:p>
          <a:p>
            <a:endParaRPr lang="en-US" altLang="en-GB" sz="1600"/>
          </a:p>
          <a:p>
            <a:endParaRPr lang="en-US" altLang="en-GB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grp_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_bg_1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blue_bar_1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title_10"/>
          <p:cNvSpPr/>
          <p:nvPr/>
        </p:nvSpPr>
        <p:spPr>
          <a:xfrm>
            <a:off x="201168" y="36576"/>
            <a:ext cx="86868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Benchmark</a:t>
            </a:r>
            <a:endParaRPr sz="28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card_bg_20"/>
          <p:cNvSpPr/>
          <p:nvPr/>
        </p:nvSpPr>
        <p:spPr>
          <a:xfrm>
            <a:off x="182880" y="960000"/>
            <a:ext cx="2890080" cy="368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card_hdr_20"/>
          <p:cNvSpPr/>
          <p:nvPr/>
        </p:nvSpPr>
        <p:spPr>
          <a:xfrm>
            <a:off x="182880" y="960000"/>
            <a:ext cx="2890080" cy="347472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card_hdrtxt_20"/>
          <p:cNvSpPr/>
          <p:nvPr/>
        </p:nvSpPr>
        <p:spPr>
          <a:xfrm>
            <a:off x="182880" y="960000"/>
            <a:ext cx="289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🐍  Small Datasets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card_body_20"/>
          <p:cNvSpPr txBox="1"/>
          <p:nvPr/>
        </p:nvSpPr>
        <p:spPr>
          <a:xfrm>
            <a:off x="274320" y="1398912"/>
            <a:ext cx="2707200" cy="324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Pure Python sometimes appeared competitive.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Spark initialization overhead exists (~0.5–0.7s startup).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Below ~6,000 rows: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Python can be faster.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30" name="card_bg_30"/>
          <p:cNvSpPr/>
          <p:nvPr/>
        </p:nvSpPr>
        <p:spPr>
          <a:xfrm>
            <a:off x="3126960" y="960000"/>
            <a:ext cx="2890080" cy="368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card_hdr_30"/>
          <p:cNvSpPr/>
          <p:nvPr/>
        </p:nvSpPr>
        <p:spPr>
          <a:xfrm>
            <a:off x="3126960" y="960000"/>
            <a:ext cx="2890080" cy="347472"/>
          </a:xfrm>
          <a:prstGeom prst="rect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card_hdrtxt_30"/>
          <p:cNvSpPr/>
          <p:nvPr/>
        </p:nvSpPr>
        <p:spPr>
          <a:xfrm>
            <a:off x="3126960" y="960000"/>
            <a:ext cx="289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⚡  Large Datasets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card_body_30"/>
          <p:cNvSpPr txBox="1"/>
          <p:nvPr/>
        </p:nvSpPr>
        <p:spPr>
          <a:xfrm>
            <a:off x="3218400" y="1398912"/>
            <a:ext cx="2707200" cy="324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Spark became significantly faster.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Performance gap increased continuously with data size.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At 100,000 rows: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Spark was many times faster.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40" name="card_bg_40"/>
          <p:cNvSpPr/>
          <p:nvPr/>
        </p:nvSpPr>
        <p:spPr>
          <a:xfrm>
            <a:off x="6071040" y="960000"/>
            <a:ext cx="2890080" cy="368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card_hdr_40"/>
          <p:cNvSpPr/>
          <p:nvPr/>
        </p:nvSpPr>
        <p:spPr>
          <a:xfrm>
            <a:off x="6071040" y="960000"/>
            <a:ext cx="2890080" cy="34747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" name="card_hdrtxt_40"/>
          <p:cNvSpPr/>
          <p:nvPr/>
        </p:nvSpPr>
        <p:spPr>
          <a:xfrm>
            <a:off x="6071040" y="960000"/>
            <a:ext cx="289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🏆  Key Finding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3" name="card_body_40"/>
          <p:cNvSpPr txBox="1"/>
          <p:nvPr/>
        </p:nvSpPr>
        <p:spPr>
          <a:xfrm>
            <a:off x="6162480" y="1398912"/>
            <a:ext cx="2707200" cy="324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Spark scales efficiently as data volume grows.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Crossover point: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~6,000–7,000 rows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Beyond this: Spark SQL is the superior choice.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50" name="footer_bg_50"/>
          <p:cNvSpPr/>
          <p:nvPr/>
        </p:nvSpPr>
        <p:spPr>
          <a:xfrm>
            <a:off x="182880" y="4681728"/>
            <a:ext cx="8778240" cy="384048"/>
          </a:xfrm>
          <a:prstGeom prst="rect">
            <a:avLst/>
          </a:prstGeom>
          <a:solidFill>
            <a:srgbClr val="0A2540"/>
          </a:solidFill>
          <a:ln w="9525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</a:p>
        </p:txBody>
      </p:sp>
      <p:sp>
        <p:nvSpPr>
          <p:cNvPr id="51" name="footer_txt_50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8FA8C8"/>
                </a:solidFill>
                <a:latin typeface="Calibri" panose="020F0502020204030204"/>
              </a:rPr>
              <a:t>Benchmark: performance_speedup_vs_python.jpg — shows speedup ratio across all three row-count tests.</a:t>
            </a:r>
            <a:endParaRPr sz="1000">
              <a:solidFill>
                <a:srgbClr val="8FA8C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grp_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_bg_10"/>
          <p:cNvSpPr/>
          <p:nvPr/>
        </p:nvSpPr>
        <p:spPr>
          <a:xfrm>
            <a:off x="0" y="-30480"/>
            <a:ext cx="9144000" cy="74980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blue_bar_1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title_10"/>
          <p:cNvSpPr/>
          <p:nvPr/>
        </p:nvSpPr>
        <p:spPr>
          <a:xfrm>
            <a:off x="201168" y="36576"/>
            <a:ext cx="86868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Efficiency Crossover Point</a:t>
            </a:r>
            <a:endParaRPr sz="28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card_bg_20"/>
          <p:cNvSpPr/>
          <p:nvPr/>
        </p:nvSpPr>
        <p:spPr>
          <a:xfrm>
            <a:off x="182880" y="960000"/>
            <a:ext cx="4362120" cy="178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card_hdr_20"/>
          <p:cNvSpPr/>
          <p:nvPr/>
        </p:nvSpPr>
        <p:spPr>
          <a:xfrm>
            <a:off x="182880" y="960000"/>
            <a:ext cx="4362120" cy="347472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card_hdrtxt_20"/>
          <p:cNvSpPr/>
          <p:nvPr/>
        </p:nvSpPr>
        <p:spPr>
          <a:xfrm>
            <a:off x="182880" y="960000"/>
            <a:ext cx="4362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⚡  Important Discovery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card_body_20"/>
          <p:cNvSpPr txBox="1"/>
          <p:nvPr/>
        </p:nvSpPr>
        <p:spPr>
          <a:xfrm>
            <a:off x="274320" y="1398912"/>
            <a:ext cx="4179240" cy="134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There is an efficiency crossover point at ~6,000–7,000 rows.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Small datasets → Python is acceptable.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Large datasets → Spark dominates.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30" name="card_bg_30"/>
          <p:cNvSpPr/>
          <p:nvPr/>
        </p:nvSpPr>
        <p:spPr>
          <a:xfrm>
            <a:off x="4599000" y="960000"/>
            <a:ext cx="4362120" cy="178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card_hdr_30"/>
          <p:cNvSpPr/>
          <p:nvPr/>
        </p:nvSpPr>
        <p:spPr>
          <a:xfrm>
            <a:off x="4599000" y="960000"/>
            <a:ext cx="4362120" cy="347472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card_hdrtxt_30"/>
          <p:cNvSpPr/>
          <p:nvPr/>
        </p:nvSpPr>
        <p:spPr>
          <a:xfrm>
            <a:off x="4599000" y="960000"/>
            <a:ext cx="4362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🔬  Why This Happens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card_body_30"/>
          <p:cNvSpPr txBox="1"/>
          <p:nvPr/>
        </p:nvSpPr>
        <p:spPr>
          <a:xfrm>
            <a:off x="4690440" y="1398912"/>
            <a:ext cx="4179240" cy="134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Spark's distributed architecture becomes more beneficial as computational workload increases.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Parallelism, Catalyst, and Tungsten all compound — the bigger the data, the bigger the gain.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40" name="card_bg_40"/>
          <p:cNvSpPr/>
          <p:nvPr/>
        </p:nvSpPr>
        <p:spPr>
          <a:xfrm>
            <a:off x="182880" y="2794000"/>
            <a:ext cx="8778240" cy="190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card_hdr_40"/>
          <p:cNvSpPr/>
          <p:nvPr/>
        </p:nvSpPr>
        <p:spPr>
          <a:xfrm>
            <a:off x="182880" y="2794000"/>
            <a:ext cx="8778240" cy="347472"/>
          </a:xfrm>
          <a:prstGeom prst="rect">
            <a:avLst/>
          </a:prstGeom>
          <a:solidFill>
            <a:srgbClr val="FF6B35"/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" name="card_hdrtxt_40"/>
          <p:cNvSpPr/>
          <p:nvPr/>
        </p:nvSpPr>
        <p:spPr>
          <a:xfrm>
            <a:off x="182880" y="279400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🏢  Real-World Importance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3" name="card_body_40"/>
          <p:cNvSpPr txBox="1"/>
          <p:nvPr/>
        </p:nvSpPr>
        <p:spPr>
          <a:xfrm>
            <a:off x="274320" y="3232912"/>
            <a:ext cx="8595360" cy="146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This proves Spark is ideal for: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6B35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Enterprise systems processing millions of records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6B35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Large-scale analytics on national or regional datasets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6B35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Real-time processing pipelines with continuous data ingestion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6B35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Any workload where single-threaded Python would bottleneck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60" name="footer_bg_60"/>
          <p:cNvSpPr/>
          <p:nvPr/>
        </p:nvSpPr>
        <p:spPr>
          <a:xfrm>
            <a:off x="182880" y="4681728"/>
            <a:ext cx="8778240" cy="384048"/>
          </a:xfrm>
          <a:prstGeom prst="rect">
            <a:avLst/>
          </a:prstGeom>
          <a:solidFill>
            <a:srgbClr val="0A2540"/>
          </a:solidFill>
          <a:ln w="9525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</a:p>
        </p:txBody>
      </p:sp>
      <p:sp>
        <p:nvSpPr>
          <p:cNvPr id="61" name="footer_txt_60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8FA8C8"/>
                </a:solidFill>
                <a:latin typeface="Calibri" panose="020F0502020204030204"/>
              </a:rPr>
              <a:t>The crossover point is the key metric for deciding between Python and Spark in production.</a:t>
            </a:r>
            <a:endParaRPr sz="1000">
              <a:solidFill>
                <a:srgbClr val="8FA8C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932180"/>
            <a:ext cx="868807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299210" y="1703070"/>
          <a:ext cx="6823710" cy="2204720"/>
        </p:xfrm>
        <a:graphic>
          <a:graphicData uri="http://schemas.openxmlformats.org/drawingml/2006/table">
            <a:tbl>
              <a:tblPr/>
              <a:tblGrid>
                <a:gridCol w="3411855"/>
                <a:gridCol w="3411855"/>
              </a:tblGrid>
              <a:tr h="314960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solidFill>
                            <a:schemeClr val="bg1"/>
                          </a:solidFill>
                        </a:rPr>
                        <a:t>Spark</a:t>
                      </a:r>
                      <a:endParaRPr lang="en-US" altLang="zh-CN" sz="14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solidFill>
                            <a:schemeClr val="bg1"/>
                          </a:solidFill>
                        </a:rPr>
                        <a:t>Pure Python</a:t>
                      </a:r>
                      <a:endParaRPr lang="en-US" altLang="zh-CN" sz="14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gradFill>
                      <a:gsLst>
                        <a:gs pos="50000">
                          <a:schemeClr val="accent1"/>
                        </a:gs>
                        <a:gs pos="0">
                          <a:schemeClr val="accent1">
                            <a:lumMod val="25000"/>
                            <a:lumOff val="75000"/>
                          </a:schemeClr>
                        </a:gs>
                        <a:gs pos="100000">
                          <a:schemeClr val="accent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Distributed engine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Single-thread sequential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Uses optimizer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No optimizer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Builds execution plan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Direct execution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Uses DAG tasks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Simple loop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Has overhead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Minimal overhead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Better for huge data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Better for small data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2167255" y="614680"/>
            <a:ext cx="5311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000" b="1"/>
              <a:t>       SPARK SQL vs PYTHON FLOW</a:t>
            </a:r>
            <a:endParaRPr lang="en-US" altLang="en-GB" sz="2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grp_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_bg_10"/>
          <p:cNvSpPr/>
          <p:nvPr/>
        </p:nvSpPr>
        <p:spPr>
          <a:xfrm>
            <a:off x="0" y="-30480"/>
            <a:ext cx="9144000" cy="74980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blue_bar_1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title_10"/>
          <p:cNvSpPr/>
          <p:nvPr/>
        </p:nvSpPr>
        <p:spPr>
          <a:xfrm>
            <a:off x="201168" y="36576"/>
            <a:ext cx="86868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Analysis: Py Spark vs Pure Python</a:t>
            </a:r>
            <a:endParaRPr sz="28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card_bg_20"/>
          <p:cNvSpPr/>
          <p:nvPr/>
        </p:nvSpPr>
        <p:spPr>
          <a:xfrm>
            <a:off x="182880" y="960000"/>
            <a:ext cx="4362120" cy="368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card_hdr_20"/>
          <p:cNvSpPr/>
          <p:nvPr/>
        </p:nvSpPr>
        <p:spPr>
          <a:xfrm>
            <a:off x="182880" y="960000"/>
            <a:ext cx="4362120" cy="347472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card_hdrtxt_20"/>
          <p:cNvSpPr/>
          <p:nvPr/>
        </p:nvSpPr>
        <p:spPr>
          <a:xfrm>
            <a:off x="182880" y="960000"/>
            <a:ext cx="4362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⚠️  The Problem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card_body_20"/>
          <p:cNvSpPr txBox="1"/>
          <p:nvPr/>
        </p:nvSpPr>
        <p:spPr>
          <a:xfrm>
            <a:off x="274320" y="1398912"/>
            <a:ext cx="4179240" cy="324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Traditional Python processing becomes slow when: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90FF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Dataset size increases significantly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90FF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Multiple aggregations are required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90FF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Complex filtering is applied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E90FF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Memory usage grows unbounded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Single-threaded processing hits a wall.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30" name="card_bg_30"/>
          <p:cNvSpPr/>
          <p:nvPr/>
        </p:nvSpPr>
        <p:spPr>
          <a:xfrm>
            <a:off x="4599000" y="960000"/>
            <a:ext cx="4362120" cy="368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card_hdr_30"/>
          <p:cNvSpPr/>
          <p:nvPr/>
        </p:nvSpPr>
        <p:spPr>
          <a:xfrm>
            <a:off x="4599000" y="960000"/>
            <a:ext cx="4362120" cy="34747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card_hdrtxt_30"/>
          <p:cNvSpPr/>
          <p:nvPr/>
        </p:nvSpPr>
        <p:spPr>
          <a:xfrm>
            <a:off x="4599000" y="960000"/>
            <a:ext cx="4362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🎯  Our Goal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card_body_30"/>
          <p:cNvSpPr txBox="1"/>
          <p:nvPr/>
        </p:nvSpPr>
        <p:spPr>
          <a:xfrm>
            <a:off x="4690440" y="1398912"/>
            <a:ext cx="4179240" cy="324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We wanted to determine: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C9A7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Can Spark process data faster?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C9A7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Is Spark scalable to millions of rows?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C9A7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Are the results reliable and correct?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C9A7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Which approach suits real-world big data?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Answer: Spark dominates at scale.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40" name="footer_bg_40"/>
          <p:cNvSpPr/>
          <p:nvPr/>
        </p:nvSpPr>
        <p:spPr>
          <a:xfrm>
            <a:off x="182880" y="4681728"/>
            <a:ext cx="8778240" cy="384048"/>
          </a:xfrm>
          <a:prstGeom prst="rect">
            <a:avLst/>
          </a:prstGeom>
          <a:solidFill>
            <a:srgbClr val="0A2540"/>
          </a:solidFill>
          <a:ln w="9525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</a:p>
        </p:txBody>
      </p:sp>
      <p:sp>
        <p:nvSpPr>
          <p:cNvPr id="41" name="footer_txt_40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8FA8C8"/>
                </a:solidFill>
                <a:latin typeface="Calibri" panose="020F0502020204030204"/>
              </a:rPr>
              <a:t>Performance analysis ensures the right tool is chosen for production-scale data pipelines.</a:t>
            </a:r>
            <a:endParaRPr sz="1000">
              <a:solidFill>
                <a:srgbClr val="8FA8C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grp_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_bg_10"/>
          <p:cNvSpPr/>
          <p:nvPr/>
        </p:nvSpPr>
        <p:spPr>
          <a:xfrm>
            <a:off x="0" y="11430"/>
            <a:ext cx="9144000" cy="74980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blue_bar_1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title_10"/>
          <p:cNvSpPr/>
          <p:nvPr/>
        </p:nvSpPr>
        <p:spPr>
          <a:xfrm>
            <a:off x="201168" y="36576"/>
            <a:ext cx="86868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Final System Testing</a:t>
            </a:r>
            <a:endParaRPr sz="28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card_bg_20"/>
          <p:cNvSpPr/>
          <p:nvPr/>
        </p:nvSpPr>
        <p:spPr>
          <a:xfrm>
            <a:off x="182880" y="960000"/>
            <a:ext cx="8778240" cy="50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card_hdr_20"/>
          <p:cNvSpPr/>
          <p:nvPr/>
        </p:nvSpPr>
        <p:spPr>
          <a:xfrm>
            <a:off x="182880" y="960000"/>
            <a:ext cx="8778240" cy="347472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card_hdrtxt_20"/>
          <p:cNvSpPr/>
          <p:nvPr/>
        </p:nvSpPr>
        <p:spPr>
          <a:xfrm>
            <a:off x="182880" y="960000"/>
            <a:ext cx="8778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🔍  System Test Purpose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card_body_20"/>
          <p:cNvSpPr txBox="1"/>
          <p:nvPr/>
        </p:nvSpPr>
        <p:spPr>
          <a:xfrm>
            <a:off x="274320" y="1398912"/>
            <a:ext cx="8595360" cy="6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Verifies that all pipeline components produced correct, consistent, and complete outputs.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30" name="card_bg_30"/>
          <p:cNvSpPr/>
          <p:nvPr/>
        </p:nvSpPr>
        <p:spPr>
          <a:xfrm>
            <a:off x="182880" y="1514000"/>
            <a:ext cx="4362120" cy="315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card_hdr_30"/>
          <p:cNvSpPr/>
          <p:nvPr/>
        </p:nvSpPr>
        <p:spPr>
          <a:xfrm>
            <a:off x="182880" y="1514000"/>
            <a:ext cx="4362120" cy="347472"/>
          </a:xfrm>
          <a:prstGeom prst="rect">
            <a:avLst/>
          </a:prstGeom>
          <a:solidFill>
            <a:srgbClr val="00C9A7"/>
          </a:solidFill>
          <a:ln w="12700" cap="flat" cmpd="sng">
            <a:solidFill>
              <a:srgbClr val="00C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card_hdrtxt_30"/>
          <p:cNvSpPr/>
          <p:nvPr/>
        </p:nvSpPr>
        <p:spPr>
          <a:xfrm>
            <a:off x="182880" y="1514000"/>
            <a:ext cx="4362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Verified Components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card_body_30"/>
          <p:cNvSpPr txBox="1"/>
          <p:nvPr/>
        </p:nvSpPr>
        <p:spPr>
          <a:xfrm>
            <a:off x="274320" y="1952912"/>
            <a:ext cx="4179240" cy="271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✅  ETL outputs were created correctly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✅  Spark SQL results are correct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✅  DataFrame results are correct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✅  Functional programming results match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✅  Benchmarking results exist properly</a:t>
            </a:r>
            <a:endParaRPr sz="1200">
              <a:solidFill>
                <a:srgbClr val="8FA8C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✅  No mismatches exist between any outputs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40" name="card_bg_40"/>
          <p:cNvSpPr/>
          <p:nvPr/>
        </p:nvSpPr>
        <p:spPr>
          <a:xfrm>
            <a:off x="4599000" y="1514000"/>
            <a:ext cx="4362120" cy="315000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card_hdr_40"/>
          <p:cNvSpPr/>
          <p:nvPr/>
        </p:nvSpPr>
        <p:spPr>
          <a:xfrm>
            <a:off x="4599000" y="1514000"/>
            <a:ext cx="4362120" cy="347472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" name="card_hdrtxt_40"/>
          <p:cNvSpPr/>
          <p:nvPr/>
        </p:nvSpPr>
        <p:spPr>
          <a:xfrm>
            <a:off x="4599000" y="1514000"/>
            <a:ext cx="4362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Calibri" panose="020F0502020204030204"/>
              </a:rPr>
              <a:t>🧪  Why Testing Matters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3" name="card_body_40"/>
          <p:cNvSpPr txBox="1"/>
          <p:nvPr/>
        </p:nvSpPr>
        <p:spPr>
          <a:xfrm>
            <a:off x="4690440" y="1952912"/>
            <a:ext cx="4179240" cy="271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Without systematic testing, analytical outputs cannot be trusted.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5A623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Catches silent data errors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5A623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Confirms end-to-end correctness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5A623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Validates both APIs agree</a:t>
            </a:r>
            <a:endParaRPr sz="1200">
              <a:solidFill>
                <a:srgbClr val="8FA8C8"/>
              </a:solidFill>
            </a:endParaRPr>
          </a:p>
          <a:p>
            <a:pPr marL="3429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5A623"/>
              </a:buClr>
              <a:buSzPts val="1200"/>
              <a:buChar char="●"/>
            </a:pPr>
            <a:r>
              <a:rPr lang="en-US" sz="1200">
                <a:solidFill>
                  <a:srgbClr val="8FA8C8"/>
                </a:solidFill>
                <a:latin typeface="Calibri" panose="020F0502020204030204"/>
              </a:rPr>
              <a:t>Ensures benchmarks are reproducible</a:t>
            </a:r>
            <a:endParaRPr sz="1200">
              <a:solidFill>
                <a:srgbClr val="8FA8C8"/>
              </a:solidFill>
            </a:endParaRPr>
          </a:p>
          <a:p>
            <a:pPr>
              <a:spcBef>
                <a:spcPts val="200"/>
              </a:spcBef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8FA8C8"/>
                </a:solidFill>
                <a:latin typeface="Calibri" panose="020F0502020204030204"/>
              </a:rPr>
              <a:t>All tests passed — system is production-ready.</a:t>
            </a:r>
            <a:endParaRPr sz="1200">
              <a:solidFill>
                <a:srgbClr val="8FA8C8"/>
              </a:solidFill>
            </a:endParaRPr>
          </a:p>
        </p:txBody>
      </p:sp>
      <p:sp>
        <p:nvSpPr>
          <p:cNvPr id="60" name="footer_bg_60"/>
          <p:cNvSpPr/>
          <p:nvPr/>
        </p:nvSpPr>
        <p:spPr>
          <a:xfrm>
            <a:off x="182880" y="4681728"/>
            <a:ext cx="8778240" cy="384048"/>
          </a:xfrm>
          <a:prstGeom prst="rect">
            <a:avLst/>
          </a:prstGeom>
          <a:solidFill>
            <a:srgbClr val="0A2540"/>
          </a:solidFill>
          <a:ln w="9525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None/>
            </a:pPr>
          </a:p>
        </p:txBody>
      </p:sp>
      <p:sp>
        <p:nvSpPr>
          <p:cNvPr id="61" name="footer_txt_60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8FA8C8"/>
                </a:solidFill>
                <a:latin typeface="Calibri" panose="020F0502020204030204"/>
              </a:rPr>
              <a:t>Final system testing closes the loop: every output was verified before conclusions were drawn.</a:t>
            </a:r>
            <a:endParaRPr sz="1000">
              <a:solidFill>
                <a:srgbClr val="8FA8C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5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122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4" name="Google Shape;434;p1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" name="Google Shape;435;p15"/>
          <p:cNvSpPr/>
          <p:nvPr/>
        </p:nvSpPr>
        <p:spPr>
          <a:xfrm>
            <a:off x="201168" y="36576"/>
            <a:ext cx="868680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 panose="020F0502020204030204"/>
              <a:buNone/>
            </a:pPr>
            <a:endParaRPr sz="28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 panose="020F0502020204030204"/>
              <a:buNone/>
            </a:pPr>
            <a:r>
              <a:rPr lang="en-US" sz="2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</a:t>
            </a: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201168" y="731520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90FF"/>
              </a:buClr>
              <a:buSzPts val="1000"/>
              <a:buFont typeface="Calibri" panose="020F0502020204030204"/>
              <a:buNone/>
            </a:pPr>
            <a:r>
              <a:rPr lang="en-US" sz="1000" i="1">
                <a:solidFill>
                  <a:srgbClr val="1E9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201295" y="1005840"/>
            <a:ext cx="8643620" cy="3926840"/>
          </a:xfrm>
          <a:prstGeom prst="rect">
            <a:avLst/>
          </a:prstGeom>
          <a:solidFill>
            <a:srgbClr val="112233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8" name="Google Shape;438;p15"/>
          <p:cNvSpPr/>
          <p:nvPr/>
        </p:nvSpPr>
        <p:spPr>
          <a:xfrm>
            <a:off x="201295" y="1005840"/>
            <a:ext cx="8637905" cy="494030"/>
          </a:xfrm>
          <a:prstGeom prst="rect">
            <a:avLst/>
          </a:prstGeom>
          <a:solidFill>
            <a:srgbClr val="1E90FF"/>
          </a:solidFill>
          <a:ln w="12700" cap="flat" cmpd="sng">
            <a:solidFill>
              <a:srgbClr val="1E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9" name="Google Shape;439;p15"/>
          <p:cNvSpPr/>
          <p:nvPr/>
        </p:nvSpPr>
        <p:spPr>
          <a:xfrm>
            <a:off x="201168" y="1005840"/>
            <a:ext cx="281635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⚡  Spark for Scale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3172968" y="1005840"/>
            <a:ext cx="2816352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6400800" y="1591056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Calibri" panose="020F0502020204030204"/>
              <a:buNone/>
            </a:pPr>
            <a:r>
              <a:rPr lang="en-US" sz="105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6400800" y="2377440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Calibri" panose="020F0502020204030204"/>
              <a:buNone/>
            </a:pPr>
            <a:r>
              <a:rPr lang="en-US" sz="105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6400800" y="3163824"/>
            <a:ext cx="24871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Calibri" panose="020F0502020204030204"/>
              <a:buNone/>
            </a:pPr>
            <a:r>
              <a:rPr lang="en-US" sz="1050">
                <a:solidFill>
                  <a:srgbClr val="8F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10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256413" y="2571750"/>
            <a:ext cx="855878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 project demonstrated that Apache Spark is an effective and scalable framework for large-scale survey analytics. </a:t>
            </a: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takeaways include:</a:t>
            </a: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Spark enables efficient ETL at scale with multiple parallel analysis pipelines.</a:t>
            </a: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SQL and DataFrame interfaces yield equivalent results, providing flexibility without sacrificing correctness.</a:t>
            </a: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Strict data cleaning rules materially improve the quality and interpretability of visual outputs.</a:t>
            </a: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Visual analytics provide evidence-based insights into energy access distribution across regions and districts, inequality factors (SEC category, rural/urban classification, education), and potential infrastructure barriers (distance, reasons for non-connection).</a:t>
            </a: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r>
              <a:rPr lang="en-US" sz="14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 dataset sizes grow, Spark's distributed architecture delivers exponentially greater speedups over single-threaded Python, confirming its suitability as the foundation for large-scale data engineering workflows.</a:t>
            </a:r>
            <a:endParaRPr sz="14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2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3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4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5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6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7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8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9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10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11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12.xml><?xml version="1.0" encoding="utf-8"?>
<p:tagLst xmlns:p="http://schemas.openxmlformats.org/presentationml/2006/main">
  <p:tag name="KSO_WM_DIAGRAM_VIRTUALLY_FRAME" val="{&quot;height&quot;:224.63999999999996,&quot;left&quot;:27.360000000000003,&quot;top&quot;:116.64000000000001,&quot;width&quot;:646.9799999999999}"/>
</p:tagLst>
</file>

<file path=ppt/tags/tag13.xml><?xml version="1.0" encoding="utf-8"?>
<p:tagLst xmlns:p="http://schemas.openxmlformats.org/presentationml/2006/main">
  <p:tag name="TABLE_ENDDRAG_ORIGIN_RECT" val="537*173"/>
  <p:tag name="TABLE_ENDDRAG_RECT" val="50*75*537*17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8050</Words>
  <Application>WPS Presentation</Application>
  <PresentationFormat>On-screen Show (16:9)</PresentationFormat>
  <Paragraphs>370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WPS_1763189093</cp:lastModifiedBy>
  <cp:revision>22</cp:revision>
  <dcterms:created xsi:type="dcterms:W3CDTF">2026-05-16T15:17:00Z</dcterms:created>
  <dcterms:modified xsi:type="dcterms:W3CDTF">2026-05-18T16:50:22Z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42B2CDADBFB84906813A1253BFBF2A4C_13</vt:lpwstr>
  </property>
  <property fmtid="{D5CDD505-2E9C-101B-9397-08002B2CF9AE}" pid="3" name="KSOProductBuildVer">
    <vt:lpwstr>2057-12.2.0.23202</vt:lpwstr>
  </property>
</Properties>
</file>